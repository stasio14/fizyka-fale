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116314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8323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9028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6922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64682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4620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1652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5966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6317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79030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6445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1793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8260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72576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l-PL" dirty="0"/>
              <a:t>Kliknij ikonę, aby dodać obraz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86556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503568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8309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EE7D0-856D-4F9D-B82D-333BB04B88B5}" type="datetimeFigureOut">
              <a:rPr lang="pl-PL" smtClean="0"/>
              <a:t>15.05.2019</a:t>
            </a:fld>
            <a:endParaRPr lang="pl-P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4DD25-668C-4CA2-85F3-9450F389E850}" type="slidenum">
              <a:rPr lang="pl-PL" smtClean="0"/>
              <a:t>‹#›</a:t>
            </a:fld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95908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F67EC6-10C8-4F20-942F-9733D11D5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Fale mechaniczne</a:t>
            </a:r>
            <a:br>
              <a:rPr lang="pl-PL" dirty="0"/>
            </a:br>
            <a:r>
              <a:rPr lang="pl-PL" dirty="0"/>
              <a:t>i elektromagnetyczne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FD4A014-7A18-4B6B-B768-9B84D8A69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Oraz ich porównanie</a:t>
            </a:r>
          </a:p>
        </p:txBody>
      </p:sp>
    </p:spTree>
    <p:extLst>
      <p:ext uri="{BB962C8B-B14F-4D97-AF65-F5344CB8AC3E}">
        <p14:creationId xmlns:p14="http://schemas.microsoft.com/office/powerpoint/2010/main" val="27779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E2CC79-6905-45F9-A84D-91A3CF23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Niezbędne definicje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37F156E-37E6-48BC-BC74-88B857B5A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l-PL" b="1" dirty="0"/>
              <a:t>Fala – </a:t>
            </a:r>
            <a:r>
              <a:rPr lang="pl-PL" dirty="0"/>
              <a:t>zaburzenie rozchodzące się w ośrodku lub przestrzeni</a:t>
            </a:r>
            <a:br>
              <a:rPr lang="pl-PL" dirty="0"/>
            </a:br>
            <a:r>
              <a:rPr lang="pl-PL" b="1" dirty="0"/>
              <a:t>Ośrodek sprężysty – </a:t>
            </a:r>
            <a:r>
              <a:rPr lang="pl-PL" dirty="0"/>
              <a:t>ciało w którym zewnętrzna siła powoduje powstanie naprężeń, których skutkiem jest powstanie siły przeciwnej do siły zewnętrznej</a:t>
            </a:r>
            <a:br>
              <a:rPr lang="pl-PL" dirty="0"/>
            </a:br>
            <a:r>
              <a:rPr lang="pl-PL" b="1" dirty="0"/>
              <a:t>Fala mechaniczna – </a:t>
            </a:r>
            <a:r>
              <a:rPr lang="pl-PL" dirty="0"/>
              <a:t>fala, której skutkiem jest odchylenie cząsteczek ciała od ośrodka równowagi poprzez rozprzestrzenianie się drgań w ośrodku</a:t>
            </a:r>
            <a:br>
              <a:rPr lang="pl-PL" dirty="0"/>
            </a:br>
            <a:r>
              <a:rPr lang="pl-PL" b="1" dirty="0"/>
              <a:t>Fala elektromagnetyczna – </a:t>
            </a:r>
            <a:r>
              <a:rPr lang="pl-PL" dirty="0"/>
              <a:t>(również promieniowanie elektromagnetyczne) zaburzenie pola elektromagnetycznego</a:t>
            </a:r>
            <a:br>
              <a:rPr lang="pl-PL" dirty="0"/>
            </a:br>
            <a:r>
              <a:rPr lang="pl-PL" b="1" dirty="0"/>
              <a:t>Pole elektromagnetyczne – </a:t>
            </a:r>
            <a:r>
              <a:rPr lang="pl-PL" dirty="0"/>
              <a:t>układ pól: magnetycznego i elektrycznego</a:t>
            </a:r>
            <a:endParaRPr lang="pl-PL" b="1" dirty="0"/>
          </a:p>
          <a:p>
            <a:pPr marL="0" indent="0">
              <a:buNone/>
            </a:pPr>
            <a:endParaRPr lang="pl-PL" b="1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20944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93D1A7-3950-4395-92E8-F4EC7F58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Wielkości opisujące fale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B08EEB-4E4B-4F6C-8FF2-7AAE6D62C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72530"/>
            <a:ext cx="9905999" cy="46704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/>
              <a:t>Falę mechaniczną, jak i falę elektromagnetyczną charakteryzują cztery podstawowe wielkości:</a:t>
            </a:r>
          </a:p>
          <a:p>
            <a:r>
              <a:rPr lang="pl-PL" b="1" dirty="0"/>
              <a:t>Amplituda – </a:t>
            </a:r>
            <a:r>
              <a:rPr lang="pl-PL" dirty="0"/>
              <a:t>największe wychylenie z położenia równowagi</a:t>
            </a:r>
          </a:p>
          <a:p>
            <a:r>
              <a:rPr lang="pl-PL" b="1" dirty="0"/>
              <a:t>Okres – </a:t>
            </a:r>
            <a:r>
              <a:rPr lang="pl-PL" dirty="0"/>
              <a:t>czas w którym wykona się jedno pełne drganie</a:t>
            </a:r>
          </a:p>
          <a:p>
            <a:r>
              <a:rPr lang="pl-PL" b="1" dirty="0"/>
              <a:t>Częstotliwość – </a:t>
            </a:r>
            <a:r>
              <a:rPr lang="pl-PL" dirty="0"/>
              <a:t>Ilość drgań jakie wykonają się w czasie 1 sekundy</a:t>
            </a:r>
          </a:p>
          <a:p>
            <a:r>
              <a:rPr lang="pl-PL" b="1" dirty="0"/>
              <a:t>Długość – </a:t>
            </a:r>
            <a:r>
              <a:rPr lang="pl-PL" dirty="0"/>
              <a:t>droga, którą fala przebywa w czasie, gdy dowolna cząsteczka wykonuje jedno pełne drganie</a:t>
            </a:r>
          </a:p>
          <a:p>
            <a:r>
              <a:rPr lang="pl-PL" b="1" dirty="0"/>
              <a:t>Prędkość fali – </a:t>
            </a:r>
            <a:r>
              <a:rPr lang="pl-PL" dirty="0"/>
              <a:t>iloraz długości jaką pokonuje dowolna cząsteczka ośrodka i czasu w jakim to zrobiła. Szybkość fali mechanicznej oznacza się literą </a:t>
            </a:r>
            <a:r>
              <a:rPr lang="pl-PL" i="1" dirty="0"/>
              <a:t>„v” </a:t>
            </a:r>
            <a:r>
              <a:rPr lang="pl-PL" dirty="0"/>
              <a:t>i jest zależna od ośrodka</a:t>
            </a:r>
            <a:r>
              <a:rPr lang="pl-PL" b="1" i="1" dirty="0"/>
              <a:t>. </a:t>
            </a:r>
            <a:r>
              <a:rPr lang="pl-PL" dirty="0"/>
              <a:t>Szybkość fali elektromechanicznej oznacza się literą </a:t>
            </a:r>
            <a:r>
              <a:rPr lang="pl-PL" i="1" dirty="0"/>
              <a:t>„c” </a:t>
            </a:r>
            <a:r>
              <a:rPr lang="pl-PL" dirty="0"/>
              <a:t>i wynosi około 300 tys. km/h w próżni</a:t>
            </a:r>
            <a:endParaRPr lang="pl-PL" i="1" dirty="0"/>
          </a:p>
        </p:txBody>
      </p:sp>
    </p:spTree>
    <p:extLst>
      <p:ext uri="{BB962C8B-B14F-4D97-AF65-F5344CB8AC3E}">
        <p14:creationId xmlns:p14="http://schemas.microsoft.com/office/powerpoint/2010/main" val="233379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B02EB6-DE15-4564-AFB9-ECFE52D1B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Fala mechaniczna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6AA40F2-5861-40F2-BD40-73AC44924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72530"/>
            <a:ext cx="5582945" cy="44669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dirty="0"/>
              <a:t>Podział fal mechanicznych:</a:t>
            </a:r>
          </a:p>
          <a:p>
            <a:pPr marL="0" indent="0">
              <a:buNone/>
            </a:pPr>
            <a:br>
              <a:rPr lang="pl-PL" dirty="0"/>
            </a:br>
            <a:r>
              <a:rPr lang="pl-PL" b="1" dirty="0"/>
              <a:t>Podłużne – </a:t>
            </a:r>
            <a:r>
              <a:rPr lang="pl-PL" dirty="0"/>
              <a:t>kierunek drgań jest zgodny z kierunkiem rozchodzenia się fali</a:t>
            </a:r>
            <a:br>
              <a:rPr lang="pl-PL" dirty="0"/>
            </a:br>
            <a:r>
              <a:rPr lang="pl-PL" b="1" dirty="0"/>
              <a:t>Poprzeczne – </a:t>
            </a:r>
            <a:r>
              <a:rPr lang="pl-PL" dirty="0"/>
              <a:t>kierunek drgań jest prostopadła do kierunku rozchodzenia się fali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Istnieje również sytuacja pośrednia, np. na wodzie, gdy kierunek drgań równocześnie jest prostopadły i równoległy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629D9A3-2EDE-42C9-AF07-47B7F1AB4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409" y="2319337"/>
            <a:ext cx="2857500" cy="221932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787E867-901A-4506-A124-121D58CEA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000" y="577316"/>
            <a:ext cx="2905125" cy="2200275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F8ABA5B4-5F20-4C96-A1C0-9D29EBA0FE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000" y="4137559"/>
            <a:ext cx="2857500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735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853DE1-7B93-44BB-8CC2-1990867D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Przemiany w falach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14505C-C54B-47BC-B3FB-438F99144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Zasadnicze znaczenie ma proces odwracalnej wymiany energii potencjalnej na energię kinetyczną. W czasie tych przemian energia może być tracona. Taki proces został nazwany tłumieniem fali. Takie straty powodują stopniowe zanikanie fali. </a:t>
            </a:r>
          </a:p>
          <a:p>
            <a:pPr marL="0" indent="0">
              <a:buNone/>
            </a:pPr>
            <a:r>
              <a:rPr lang="pl-PL" dirty="0"/>
              <a:t>Przy rozchodzeniu się fali ważna jest również sprężystość ośrodka. Zależnie od</a:t>
            </a:r>
            <a:br>
              <a:rPr lang="pl-PL" dirty="0"/>
            </a:br>
            <a:r>
              <a:rPr lang="pl-PL" dirty="0"/>
              <a:t>naprężenia ośrodka zmienia się proces rozchodzenia się fali. Przykładem takiego ośrodka jest np. struna</a:t>
            </a:r>
          </a:p>
        </p:txBody>
      </p:sp>
    </p:spTree>
    <p:extLst>
      <p:ext uri="{BB962C8B-B14F-4D97-AF65-F5344CB8AC3E}">
        <p14:creationId xmlns:p14="http://schemas.microsoft.com/office/powerpoint/2010/main" val="3749207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8845F3-B615-45CC-9172-675DF9EA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Fal Mechanicznych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9DF090-49F3-4911-B77D-C8C3EE6D7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 linie, sznurku</a:t>
            </a:r>
          </a:p>
          <a:p>
            <a:r>
              <a:rPr lang="pl-PL" dirty="0"/>
              <a:t>Fala dźwiękowa </a:t>
            </a:r>
          </a:p>
          <a:p>
            <a:r>
              <a:rPr lang="pl-PL" dirty="0"/>
              <a:t>Fala rozchodząca się na wodzie </a:t>
            </a:r>
          </a:p>
          <a:p>
            <a:r>
              <a:rPr lang="pl-PL" dirty="0"/>
              <a:t>Fale morskie </a:t>
            </a:r>
          </a:p>
          <a:p>
            <a:r>
              <a:rPr lang="pl-PL" dirty="0"/>
              <a:t>Fale sejsmiczne</a:t>
            </a:r>
          </a:p>
          <a:p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627445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E3EDB0-9F85-4025-BF01-B29586A1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Fala akustyczna i dźwięk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9B7EE3-DC47-4642-8DF6-2ADA729D6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Źródłem dźwięku jest ciało drgające. Rozchodzi się on w różnych ośrodkach, </a:t>
            </a:r>
            <a:br>
              <a:rPr lang="pl-PL" dirty="0"/>
            </a:br>
            <a:r>
              <a:rPr lang="pl-PL" dirty="0"/>
              <a:t>m. in. w wodzie, powietrzu i szkle. Dźwięki słyszalne przez ludzkie ucho mają częstotliwość z zakresu 20Hz do 20kHz. Fale akustyczne rozchodzą się również w ciałach stałych, dlatego ściany nie do końca tłumią dźwięk. W mieszkaniu powierzchnie nierówne pochłaniają dźwięk.</a:t>
            </a:r>
          </a:p>
        </p:txBody>
      </p:sp>
    </p:spTree>
    <p:extLst>
      <p:ext uri="{BB962C8B-B14F-4D97-AF65-F5344CB8AC3E}">
        <p14:creationId xmlns:p14="http://schemas.microsoft.com/office/powerpoint/2010/main" val="2462704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623E4F-06B2-4D59-83C6-3B8326E1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Wysokości dźwięku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FE227B-6F04-4465-89F5-F891DD649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Różne dźwięki mają różne częstotliwości, np. dźwięki można zapisać tak:</a:t>
            </a:r>
            <a:br>
              <a:rPr lang="pl-PL" dirty="0"/>
            </a:br>
            <a:endParaRPr lang="pl-PL" dirty="0"/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AAFEC154-66C9-45EC-9CB2-BD749CBB52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64" r="4867" b="32479"/>
          <a:stretch/>
        </p:blipFill>
        <p:spPr>
          <a:xfrm>
            <a:off x="841257" y="3333042"/>
            <a:ext cx="10506308" cy="285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805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707D3C-5991-4E2C-B0D7-2CCDBC284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Zagadka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753AF1CE-9CDE-42AF-9970-535CDAB32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1276" r="4867" b="32479"/>
          <a:stretch/>
        </p:blipFill>
        <p:spPr>
          <a:xfrm>
            <a:off x="0" y="3449578"/>
            <a:ext cx="12192000" cy="995812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A137EC3C-D440-4D3F-A738-1157D0A3E118}"/>
              </a:ext>
            </a:extLst>
          </p:cNvPr>
          <p:cNvSpPr txBox="1"/>
          <p:nvPr/>
        </p:nvSpPr>
        <p:spPr>
          <a:xfrm>
            <a:off x="1214094" y="4854487"/>
            <a:ext cx="98333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Teraz spróbujcie odgadnąć co to za melodia:</a:t>
            </a:r>
          </a:p>
          <a:p>
            <a:r>
              <a:rPr lang="pl-PL" sz="2800" dirty="0"/>
              <a:t>493.9, 439.3, 523.3, 554.4, 554.4, 523.3, 493.9, 440, 415.3, 415.3, 440, 493.9, 493.9, 440, 440  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744293D7-060D-4A7E-BE09-E5ADB40FB136}"/>
              </a:ext>
            </a:extLst>
          </p:cNvPr>
          <p:cNvSpPr txBox="1"/>
          <p:nvPr/>
        </p:nvSpPr>
        <p:spPr>
          <a:xfrm>
            <a:off x="1392700" y="2691032"/>
            <a:ext cx="10799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/>
              <a:t>   c            d             e       f               g               a              h</a:t>
            </a:r>
          </a:p>
        </p:txBody>
      </p:sp>
    </p:spTree>
    <p:extLst>
      <p:ext uri="{BB962C8B-B14F-4D97-AF65-F5344CB8AC3E}">
        <p14:creationId xmlns:p14="http://schemas.microsoft.com/office/powerpoint/2010/main" val="1873115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4D4951-A413-47B3-AFD2-E0D4F888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Fala Elektromagnetyczna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73BEBE-E0BE-4D8F-8E2C-A06FB6CBD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1590993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Ten rodzaj fal należy również do fal poprzecznych, ponieważ wektor natężenia i wektor indukcji magnetycznej są prostopadłe do kierunku rozchodzenia się fali. Właściwości fal elektromagnetycznych zależą od ich długości.</a:t>
            </a:r>
          </a:p>
        </p:txBody>
      </p:sp>
    </p:spTree>
    <p:extLst>
      <p:ext uri="{BB962C8B-B14F-4D97-AF65-F5344CB8AC3E}">
        <p14:creationId xmlns:p14="http://schemas.microsoft.com/office/powerpoint/2010/main" val="78736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EC67ED-A3DE-41B2-AA02-5B2C5E21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fal i ich długości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6F3A0B-7E04-4C80-972B-68F368993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Promieniowanie gamma (&lt; 0,1nm)</a:t>
            </a:r>
          </a:p>
          <a:p>
            <a:r>
              <a:rPr lang="pl-PL" dirty="0"/>
              <a:t>Promieniowanie Roentgena (0,01nm – 10nm)</a:t>
            </a:r>
          </a:p>
          <a:p>
            <a:r>
              <a:rPr lang="pl-PL" dirty="0"/>
              <a:t>Promieniowanie UV (10nm – 0,4µm)</a:t>
            </a:r>
          </a:p>
          <a:p>
            <a:r>
              <a:rPr lang="pl-PL" dirty="0"/>
              <a:t>Światło widzialne (0,4µm – 0,7µm)</a:t>
            </a:r>
          </a:p>
          <a:p>
            <a:r>
              <a:rPr lang="pl-PL" dirty="0"/>
              <a:t>Promieniowanie podczerwone (0,7µm – 1mm)</a:t>
            </a:r>
          </a:p>
          <a:p>
            <a:r>
              <a:rPr lang="pl-PL" dirty="0"/>
              <a:t>Mikrofale (1mm – 1m)</a:t>
            </a:r>
          </a:p>
          <a:p>
            <a:r>
              <a:rPr lang="pl-PL" dirty="0"/>
              <a:t>Fale radiowe (10m – 2000m)</a:t>
            </a:r>
          </a:p>
        </p:txBody>
      </p:sp>
    </p:spTree>
    <p:extLst>
      <p:ext uri="{BB962C8B-B14F-4D97-AF65-F5344CB8AC3E}">
        <p14:creationId xmlns:p14="http://schemas.microsoft.com/office/powerpoint/2010/main" val="1645364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AE5B52-6305-49BE-9A0C-E5A1C435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Promieniowanie gamma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8483C85-AD00-418B-A0DD-AEBB9C72F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/>
              <a:t>Powstaje w wyniku reakcji jądrowych</a:t>
            </a:r>
          </a:p>
          <a:p>
            <a:r>
              <a:rPr lang="pl-PL" dirty="0"/>
              <a:t>Używane do radioterapii i sterylizacji sprzętu medycznego</a:t>
            </a:r>
          </a:p>
          <a:p>
            <a:r>
              <a:rPr lang="pl-PL" dirty="0"/>
              <a:t>Ma dużą zdolność przenikania</a:t>
            </a:r>
          </a:p>
          <a:p>
            <a:r>
              <a:rPr lang="pl-PL" dirty="0"/>
              <a:t>Jest promieniowaniem jonizującym – powoduje rozpad substancji na mniejsze cząsteczki, które stają się truciznami i powodują zatrzymanie funkcji życiowych w organizmie</a:t>
            </a:r>
          </a:p>
          <a:p>
            <a:r>
              <a:rPr lang="pl-PL" dirty="0"/>
              <a:t>Powoduje chorobę popromienną</a:t>
            </a:r>
          </a:p>
        </p:txBody>
      </p:sp>
    </p:spTree>
    <p:extLst>
      <p:ext uri="{BB962C8B-B14F-4D97-AF65-F5344CB8AC3E}">
        <p14:creationId xmlns:p14="http://schemas.microsoft.com/office/powerpoint/2010/main" val="108441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B8AED1-617D-4C56-AE55-88BA7F3A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Promieniowanie </a:t>
            </a:r>
            <a:r>
              <a:rPr lang="pl-PL" dirty="0" err="1"/>
              <a:t>Roentgenowskie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40BAA0E-6B63-4317-BD2D-F2B3AF6E7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 powstaje w specjalnych lampach</a:t>
            </a:r>
          </a:p>
          <a:p>
            <a:r>
              <a:rPr lang="pl-PL" dirty="0"/>
              <a:t>Służy do wykonywania prześwietleń</a:t>
            </a:r>
          </a:p>
          <a:p>
            <a:r>
              <a:rPr lang="pl-PL" dirty="0"/>
              <a:t>Jest również promieniowaniem jonizującym</a:t>
            </a:r>
          </a:p>
        </p:txBody>
      </p:sp>
    </p:spTree>
    <p:extLst>
      <p:ext uri="{BB962C8B-B14F-4D97-AF65-F5344CB8AC3E}">
        <p14:creationId xmlns:p14="http://schemas.microsoft.com/office/powerpoint/2010/main" val="706531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DC1EFF-472F-4D98-8638-EDD48F700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Promieniowanie UV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8FBBB78-0544-443F-8AC0-34127FE4F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Wchodzi w skład promieniowania słonecznego</a:t>
            </a:r>
          </a:p>
          <a:p>
            <a:r>
              <a:rPr lang="pl-PL" dirty="0"/>
              <a:t>Ozon zatrzymuje jego działanie</a:t>
            </a:r>
          </a:p>
          <a:p>
            <a:r>
              <a:rPr lang="pl-PL" dirty="0"/>
              <a:t>Pobudza produkcje witaminy D</a:t>
            </a:r>
          </a:p>
          <a:p>
            <a:r>
              <a:rPr lang="pl-PL" dirty="0"/>
              <a:t>Powstaje w lampach kwarcowych</a:t>
            </a:r>
          </a:p>
          <a:p>
            <a:r>
              <a:rPr lang="pl-PL" dirty="0"/>
              <a:t>Stosowane do sterylizacji szpitali</a:t>
            </a:r>
          </a:p>
          <a:p>
            <a:r>
              <a:rPr lang="pl-PL" dirty="0"/>
              <a:t>Zabija bakterie i wirusy</a:t>
            </a:r>
          </a:p>
        </p:txBody>
      </p:sp>
    </p:spTree>
    <p:extLst>
      <p:ext uri="{BB962C8B-B14F-4D97-AF65-F5344CB8AC3E}">
        <p14:creationId xmlns:p14="http://schemas.microsoft.com/office/powerpoint/2010/main" val="3906889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FC110B2-DBC1-45BD-BED9-2A06215D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Światło Widzialne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EF7D06-86B9-4994-899F-0DE3991BC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Wysyła je słońce</a:t>
            </a:r>
          </a:p>
          <a:p>
            <a:r>
              <a:rPr lang="pl-PL" dirty="0"/>
              <a:t>Fale o długości ok. 0,4µm, mają barwę fioletową, dlatego krótsze fale są nazywane nadfioletowymi</a:t>
            </a:r>
          </a:p>
          <a:p>
            <a:r>
              <a:rPr lang="pl-PL" dirty="0"/>
              <a:t>Fale o długości 0,7µm mają barwę czerwoną, dlatego dłuższe fale są nazywane </a:t>
            </a:r>
            <a:r>
              <a:rPr lang="pl-PL" dirty="0" err="1"/>
              <a:t>nadczerwonymi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70425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895E91-E3A1-488B-A430-A48EE99E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Podczerwone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CE1013-C4DE-4D36-9876-11D5AEEE8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Wchodzi w skład promieniowania słonecznego</a:t>
            </a:r>
          </a:p>
          <a:p>
            <a:r>
              <a:rPr lang="pl-PL" dirty="0"/>
              <a:t>Emituje je również człowiek</a:t>
            </a:r>
          </a:p>
          <a:p>
            <a:r>
              <a:rPr lang="pl-PL" dirty="0"/>
              <a:t>Wykorzystuje się je w systemach alarmowych i pilotach od telewizora</a:t>
            </a:r>
          </a:p>
        </p:txBody>
      </p:sp>
    </p:spTree>
    <p:extLst>
      <p:ext uri="{BB962C8B-B14F-4D97-AF65-F5344CB8AC3E}">
        <p14:creationId xmlns:p14="http://schemas.microsoft.com/office/powerpoint/2010/main" val="3913701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5A065A-9F8F-4750-9C1D-F7435470E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Mikrofale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5A6EC73-5FA1-4B51-A39D-E97402724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Wykorzystane w radarze</a:t>
            </a:r>
          </a:p>
          <a:p>
            <a:r>
              <a:rPr lang="pl-PL" dirty="0"/>
              <a:t>Wykorzystuje się w kuchence mikrofalowej – fale przekazując energię zwiększają temperaturę cząsteczek wody, a w związku z tym całej potrawy</a:t>
            </a:r>
          </a:p>
          <a:p>
            <a:r>
              <a:rPr lang="pl-PL" dirty="0"/>
              <a:t>Są szkodliwe dla człowieka</a:t>
            </a:r>
          </a:p>
          <a:p>
            <a:r>
              <a:rPr lang="pl-PL" dirty="0"/>
              <a:t>Wykorzystano je w telefonii komórkowej</a:t>
            </a:r>
          </a:p>
        </p:txBody>
      </p:sp>
    </p:spTree>
    <p:extLst>
      <p:ext uri="{BB962C8B-B14F-4D97-AF65-F5344CB8AC3E}">
        <p14:creationId xmlns:p14="http://schemas.microsoft.com/office/powerpoint/2010/main" val="3250964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76AF85-86F0-4B15-BB39-584554ABB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Fale Radiowe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EBD712C-0231-4719-88E7-D8996034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Wykorzystane w telewizji i radiu</a:t>
            </a:r>
          </a:p>
          <a:p>
            <a:r>
              <a:rPr lang="pl-PL" dirty="0"/>
              <a:t>Proces nadawania w studiu radiowym - Podczas mówienia do mikrofonu fala akustyczna zmieniana jest na elektryczny sygnał dźwiękowy. Modulator zmienia ten sygnał dodając do niego falę radiową. Taka fale wysyłana jest do anteny nadawczej i jest przesyłana do odbiornika, w którym modulator „wyjmuje” falę radiową i zostawia sygnał elektryczny, który z głośnika wychodzi już jako fala akustyczna </a:t>
            </a:r>
          </a:p>
        </p:txBody>
      </p:sp>
    </p:spTree>
    <p:extLst>
      <p:ext uri="{BB962C8B-B14F-4D97-AF65-F5344CB8AC3E}">
        <p14:creationId xmlns:p14="http://schemas.microsoft.com/office/powerpoint/2010/main" val="1976637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EC1CA6-25A5-4337-8934-F89707E6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DZiękuję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14123C-BF0A-4982-8B00-CDC97D461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30955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bwód">
  <a:themeElements>
    <a:clrScheme name="Obwód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bwód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bwód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TM04033919[[fn=Obwód]]</Template>
  <TotalTime>166</TotalTime>
  <Words>611</Words>
  <Application>Microsoft Office PowerPoint</Application>
  <PresentationFormat>Panoramiczny</PresentationFormat>
  <Paragraphs>77</Paragraphs>
  <Slides>19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19</vt:i4>
      </vt:variant>
    </vt:vector>
  </HeadingPairs>
  <TitlesOfParts>
    <vt:vector size="22" baseType="lpstr">
      <vt:lpstr>Arial</vt:lpstr>
      <vt:lpstr>Tw Cen MT</vt:lpstr>
      <vt:lpstr>Obwód</vt:lpstr>
      <vt:lpstr>Fale mechaniczne i elektromagnetyczne</vt:lpstr>
      <vt:lpstr>Niezbędne definicje</vt:lpstr>
      <vt:lpstr>Wielkości opisujące fale</vt:lpstr>
      <vt:lpstr>Fala mechaniczna</vt:lpstr>
      <vt:lpstr>Przemiany w falach</vt:lpstr>
      <vt:lpstr>Przykłady Fal Mechanicznych</vt:lpstr>
      <vt:lpstr>Fala akustyczna i dźwięk</vt:lpstr>
      <vt:lpstr>Wysokości dźwięku</vt:lpstr>
      <vt:lpstr>Zagadka</vt:lpstr>
      <vt:lpstr>Fala Elektromagnetyczna</vt:lpstr>
      <vt:lpstr>Rodzaje fal i ich długości</vt:lpstr>
      <vt:lpstr>Promieniowanie gamma</vt:lpstr>
      <vt:lpstr>Promieniowanie Roentgenowskie</vt:lpstr>
      <vt:lpstr>Promieniowanie UV</vt:lpstr>
      <vt:lpstr>Światło Widzialne</vt:lpstr>
      <vt:lpstr>Podczerwone</vt:lpstr>
      <vt:lpstr>Mikrofale</vt:lpstr>
      <vt:lpstr>Fale Radiowe</vt:lpstr>
      <vt:lpstr>DZiękuję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Fale mechaniczne i elektromagnetyczne</dc:title>
  <dc:creator>Stasio</dc:creator>
  <cp:lastModifiedBy>Stasio</cp:lastModifiedBy>
  <cp:revision>18</cp:revision>
  <dcterms:created xsi:type="dcterms:W3CDTF">2019-05-15T18:12:37Z</dcterms:created>
  <dcterms:modified xsi:type="dcterms:W3CDTF">2019-05-15T20:58:52Z</dcterms:modified>
</cp:coreProperties>
</file>